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381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472C4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472C4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472C4"/>
          </a:solidFill>
        </a:fill>
      </a:tcStyle>
    </a:firstRow>
  </a:tblStyle>
  <a:tblStyle styleId="{C7B018BB-80A7-4F77-B60F-C8B233D01FF8}" styleName="">
    <a:tblBg/>
    <a:wholeTbl>
      <a:tcTxStyle b="def" i="de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def" i="de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def" i="de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def" i="de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def" i="de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def" i="de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def" i="de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def" i="de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def" i="de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de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de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de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def" i="de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de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de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de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def" i="de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de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de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de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 b="def" i="de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de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def" i="de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de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Lucida Grande"/>
        <a:ea typeface="Lucida Grande"/>
        <a:cs typeface="Lucida Grande"/>
        <a:sym typeface="Lucida Grande"/>
      </a:defRPr>
    </a:lvl1pPr>
    <a:lvl2pPr indent="457200" defTabSz="457200" latinLnBrk="0">
      <a:defRPr sz="2200">
        <a:latin typeface="Lucida Grande"/>
        <a:ea typeface="Lucida Grande"/>
        <a:cs typeface="Lucida Grande"/>
        <a:sym typeface="Lucida Grande"/>
      </a:defRPr>
    </a:lvl2pPr>
    <a:lvl3pPr indent="914400" defTabSz="457200" latinLnBrk="0">
      <a:defRPr sz="2200">
        <a:latin typeface="Lucida Grande"/>
        <a:ea typeface="Lucida Grande"/>
        <a:cs typeface="Lucida Grande"/>
        <a:sym typeface="Lucida Grande"/>
      </a:defRPr>
    </a:lvl3pPr>
    <a:lvl4pPr indent="1371600" defTabSz="457200" latinLnBrk="0">
      <a:defRPr sz="2200">
        <a:latin typeface="Lucida Grande"/>
        <a:ea typeface="Lucida Grande"/>
        <a:cs typeface="Lucida Grande"/>
        <a:sym typeface="Lucida Grande"/>
      </a:defRPr>
    </a:lvl4pPr>
    <a:lvl5pPr indent="1828800" defTabSz="457200" latinLnBrk="0">
      <a:defRPr sz="2200">
        <a:latin typeface="Lucida Grande"/>
        <a:ea typeface="Lucida Grande"/>
        <a:cs typeface="Lucida Grande"/>
        <a:sym typeface="Lucida Grande"/>
      </a:defRPr>
    </a:lvl5pPr>
    <a:lvl6pPr indent="2286000" defTabSz="457200" latinLnBrk="0">
      <a:defRPr sz="2200">
        <a:latin typeface="Lucida Grande"/>
        <a:ea typeface="Lucida Grande"/>
        <a:cs typeface="Lucida Grande"/>
        <a:sym typeface="Lucida Grande"/>
      </a:defRPr>
    </a:lvl6pPr>
    <a:lvl7pPr indent="2743200" defTabSz="457200" latinLnBrk="0">
      <a:defRPr sz="2200">
        <a:latin typeface="Lucida Grande"/>
        <a:ea typeface="Lucida Grande"/>
        <a:cs typeface="Lucida Grande"/>
        <a:sym typeface="Lucida Grande"/>
      </a:defRPr>
    </a:lvl7pPr>
    <a:lvl8pPr indent="3200400" defTabSz="457200" latinLnBrk="0">
      <a:defRPr sz="2200">
        <a:latin typeface="Lucida Grande"/>
        <a:ea typeface="Lucida Grande"/>
        <a:cs typeface="Lucida Grande"/>
        <a:sym typeface="Lucida Grande"/>
      </a:defRPr>
    </a:lvl8pPr>
    <a:lvl9pPr indent="3657600" defTabSz="457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>
            <a:lvl2pPr>
              <a:buChar char="–"/>
            </a:lvl2pPr>
            <a:lvl4pPr>
              <a:buChar char="–"/>
            </a:lvl4pPr>
            <a:lvl5pPr>
              <a:buChar char="»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049635"/>
            <a:ext cx="2844800" cy="24830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4572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9144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13716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18288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22860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27432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32004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3657600" algn="ct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39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5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Relationship Id="rId13" Type="http://schemas.openxmlformats.org/officeDocument/2006/relationships/image" Target="../media/image60.png"/><Relationship Id="rId14" Type="http://schemas.openxmlformats.org/officeDocument/2006/relationships/image" Target="../media/image61.png"/><Relationship Id="rId15" Type="http://schemas.openxmlformats.org/officeDocument/2006/relationships/image" Target="../media/image62.png"/><Relationship Id="rId16" Type="http://schemas.openxmlformats.org/officeDocument/2006/relationships/image" Target="../media/image63.png"/><Relationship Id="rId17" Type="http://schemas.openxmlformats.org/officeDocument/2006/relationships/image" Target="../media/image64.png"/><Relationship Id="rId18" Type="http://schemas.openxmlformats.org/officeDocument/2006/relationships/image" Target="../media/image65.png"/><Relationship Id="rId19" Type="http://schemas.openxmlformats.org/officeDocument/2006/relationships/image" Target="../media/image50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Relationship Id="rId10" Type="http://schemas.openxmlformats.org/officeDocument/2006/relationships/image" Target="../media/image73.png"/><Relationship Id="rId11" Type="http://schemas.openxmlformats.org/officeDocument/2006/relationships/image" Target="../media/image7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5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image" Target="../media/image81.png"/><Relationship Id="rId11" Type="http://schemas.openxmlformats.org/officeDocument/2006/relationships/image" Target="../media/image82.png"/><Relationship Id="rId12" Type="http://schemas.openxmlformats.org/officeDocument/2006/relationships/image" Target="../media/image83.png"/><Relationship Id="rId13" Type="http://schemas.openxmlformats.org/officeDocument/2006/relationships/image" Target="../media/image84.png"/><Relationship Id="rId14" Type="http://schemas.openxmlformats.org/officeDocument/2006/relationships/image" Target="../media/image85.png"/><Relationship Id="rId15" Type="http://schemas.openxmlformats.org/officeDocument/2006/relationships/image" Target="../media/image50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-1-1.png" descr="image-1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image-1-1.png" descr="image-1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image-1-3.png" descr="image-1-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46845" cy="6832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" name="image-1-5.png" descr="image-1-5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373209" y="4605430"/>
            <a:ext cx="3400426" cy="1219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" name="image-1-6.png" descr="image-1-6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515475" y="942975"/>
            <a:ext cx="1733550" cy="6858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Built classifier to identify fake vs real news"/>
          <p:cNvSpPr txBox="1"/>
          <p:nvPr/>
        </p:nvSpPr>
        <p:spPr>
          <a:xfrm>
            <a:off x="972255" y="1133475"/>
            <a:ext cx="6191251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2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Built classifier to identify fake vs real news</a:t>
            </a:r>
          </a:p>
        </p:txBody>
      </p:sp>
      <p:sp>
        <p:nvSpPr>
          <p:cNvPr id="26" name="Fake News Detection…"/>
          <p:cNvSpPr txBox="1"/>
          <p:nvPr/>
        </p:nvSpPr>
        <p:spPr>
          <a:xfrm>
            <a:off x="774701" y="2508647"/>
            <a:ext cx="7112131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4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Fake News Detection</a:t>
            </a:r>
          </a:p>
          <a:p>
            <a:pPr>
              <a:defRPr b="1" sz="4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Using Machine Learning</a:t>
            </a:r>
          </a:p>
        </p:txBody>
      </p:sp>
      <p:sp>
        <p:nvSpPr>
          <p:cNvPr id="27" name="Final result: 95.58% test accuracy"/>
          <p:cNvSpPr txBox="1"/>
          <p:nvPr/>
        </p:nvSpPr>
        <p:spPr>
          <a:xfrm>
            <a:off x="1190624" y="4999130"/>
            <a:ext cx="323755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Final result: </a:t>
            </a:r>
            <a:r>
              <a:rPr>
                <a:solidFill>
                  <a:srgbClr val="FAF9D5"/>
                </a:solidFill>
              </a:rPr>
              <a:t>95.58% test accuracy</a:t>
            </a:r>
          </a:p>
        </p:txBody>
      </p:sp>
      <p:sp>
        <p:nvSpPr>
          <p:cNvPr id="28" name="Model: Triple Hybrid Ensemble…"/>
          <p:cNvSpPr txBox="1"/>
          <p:nvPr/>
        </p:nvSpPr>
        <p:spPr>
          <a:xfrm>
            <a:off x="5023179" y="4849019"/>
            <a:ext cx="294417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Model: </a:t>
            </a:r>
            <a:r>
              <a:rPr>
                <a:solidFill>
                  <a:srgbClr val="FAF9D5"/>
                </a:solidFill>
              </a:rPr>
              <a:t>Triple Hybrid Ensemble</a:t>
            </a:r>
          </a:p>
          <a:p>
            <a:pPr>
              <a:defRPr b="1" sz="14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 </a:t>
            </a:r>
            <a:r>
              <a:rPr sz="1200"/>
              <a:t>(NB + LR + FastText)</a:t>
            </a:r>
          </a:p>
        </p:txBody>
      </p:sp>
      <p:pic>
        <p:nvPicPr>
          <p:cNvPr id="29" name="image-1-7.png" descr="image-1-7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386041" y="1881187"/>
            <a:ext cx="3087543" cy="3095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image-1-8.png" descr="image-1-8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705975" y="1057275"/>
            <a:ext cx="447675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Group 2"/>
          <p:cNvSpPr txBox="1"/>
          <p:nvPr/>
        </p:nvSpPr>
        <p:spPr>
          <a:xfrm>
            <a:off x="10179403" y="1139825"/>
            <a:ext cx="1142351" cy="29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Group 2</a:t>
            </a:r>
          </a:p>
        </p:txBody>
      </p:sp>
      <p:sp>
        <p:nvSpPr>
          <p:cNvPr id="32" name="Team"/>
          <p:cNvSpPr txBox="1"/>
          <p:nvPr/>
        </p:nvSpPr>
        <p:spPr>
          <a:xfrm>
            <a:off x="8277542" y="5343525"/>
            <a:ext cx="2948942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7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Team</a:t>
            </a:r>
          </a:p>
        </p:txBody>
      </p:sp>
      <p:sp>
        <p:nvSpPr>
          <p:cNvPr id="33" name="Rima, Domien, Dimi"/>
          <p:cNvSpPr txBox="1"/>
          <p:nvPr/>
        </p:nvSpPr>
        <p:spPr>
          <a:xfrm>
            <a:off x="8620125" y="5651500"/>
            <a:ext cx="2619375" cy="241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i="1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Rima, Domien, Dimi</a:t>
            </a:r>
          </a:p>
        </p:txBody>
      </p:sp>
      <p:pic>
        <p:nvPicPr>
          <p:cNvPr id="34" name="image-1-5.png" descr="image-1-5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2394" y="4605430"/>
            <a:ext cx="3400426" cy="1219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-2-1.png" descr="image-2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image-2-1.png" descr="image-2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image-2-3.png" descr="image-2-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15075" y="3467100"/>
            <a:ext cx="6105525" cy="6105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image-2-4.png" descr="image-2-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14350" y="1562100"/>
            <a:ext cx="3924300" cy="4533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image-2-5.png" descr="image-2-5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981200" y="2586719"/>
            <a:ext cx="990600" cy="1009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image-2-6.png" descr="image-2-6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52500" y="4295775"/>
            <a:ext cx="3048000" cy="7048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image-2-7.png" descr="image-2-7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781550" y="1666875"/>
            <a:ext cx="6896100" cy="1238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image-2-8.png" descr="image-2-8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038725" y="1924050"/>
            <a:ext cx="685800" cy="695325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image-2-7.png" descr="image-2-7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781550" y="3209925"/>
            <a:ext cx="6896100" cy="1238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image-2-10.png" descr="image-2-10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5038725" y="3467100"/>
            <a:ext cx="685800" cy="695325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image-2-11.png" descr="image-2-11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4781550" y="4752975"/>
            <a:ext cx="6896100" cy="123825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image-2-12.png" descr="image-2-12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5038725" y="5010150"/>
            <a:ext cx="685800" cy="695325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Project Overview"/>
          <p:cNvSpPr txBox="1"/>
          <p:nvPr/>
        </p:nvSpPr>
        <p:spPr>
          <a:xfrm>
            <a:off x="571500" y="539750"/>
            <a:ext cx="7019925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Project Overview</a:t>
            </a:r>
          </a:p>
        </p:txBody>
      </p:sp>
      <p:pic>
        <p:nvPicPr>
          <p:cNvPr id="49" name="image-2-13.png" descr="image-2-13.png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2266950" y="2848656"/>
            <a:ext cx="419100" cy="485776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Dataset"/>
          <p:cNvSpPr txBox="1"/>
          <p:nvPr/>
        </p:nvSpPr>
        <p:spPr>
          <a:xfrm>
            <a:off x="1981200" y="3814762"/>
            <a:ext cx="99060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Dataset</a:t>
            </a:r>
          </a:p>
        </p:txBody>
      </p:sp>
      <p:sp>
        <p:nvSpPr>
          <p:cNvPr id="51" name="testing_data_lowercase.csv"/>
          <p:cNvSpPr txBox="1"/>
          <p:nvPr/>
        </p:nvSpPr>
        <p:spPr>
          <a:xfrm>
            <a:off x="1162050" y="4543366"/>
            <a:ext cx="2628900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testing_data_lowercase.csv</a:t>
            </a:r>
          </a:p>
        </p:txBody>
      </p:sp>
      <p:pic>
        <p:nvPicPr>
          <p:cNvPr id="52" name="image-2-14.png" descr="image-2-14.png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5229225" y="2114550"/>
            <a:ext cx="304800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53" name="Goal"/>
          <p:cNvSpPr txBox="1"/>
          <p:nvPr/>
        </p:nvSpPr>
        <p:spPr>
          <a:xfrm>
            <a:off x="5915025" y="2000647"/>
            <a:ext cx="28498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Goal</a:t>
            </a:r>
          </a:p>
        </p:txBody>
      </p:sp>
      <p:sp>
        <p:nvSpPr>
          <p:cNvPr id="54" name="Classify news as fake (0) or real (1) and deploy"/>
          <p:cNvSpPr txBox="1"/>
          <p:nvPr/>
        </p:nvSpPr>
        <p:spPr>
          <a:xfrm>
            <a:off x="5915025" y="2324100"/>
            <a:ext cx="4202819" cy="190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Classify news as fake (0) or real (1) and deploy</a:t>
            </a:r>
          </a:p>
        </p:txBody>
      </p:sp>
      <p:pic>
        <p:nvPicPr>
          <p:cNvPr id="55" name="image-2-15.png" descr="image-2-15.png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5257800" y="3657600"/>
            <a:ext cx="247650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56" name="Hypothesis"/>
          <p:cNvSpPr txBox="1"/>
          <p:nvPr/>
        </p:nvSpPr>
        <p:spPr>
          <a:xfrm>
            <a:off x="5915025" y="3543696"/>
            <a:ext cx="534352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Hypothesis</a:t>
            </a:r>
          </a:p>
        </p:txBody>
      </p:sp>
      <p:sp>
        <p:nvSpPr>
          <p:cNvPr id="57" name="Fake vs real news use different language patterns/word choices"/>
          <p:cNvSpPr txBox="1"/>
          <p:nvPr/>
        </p:nvSpPr>
        <p:spPr>
          <a:xfrm>
            <a:off x="5915025" y="3867150"/>
            <a:ext cx="5343525" cy="190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Fake vs real news use different language patterns/word choices</a:t>
            </a:r>
          </a:p>
        </p:txBody>
      </p:sp>
      <p:pic>
        <p:nvPicPr>
          <p:cNvPr id="58" name="image-2-16.png" descr="image-2-16.png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5229225" y="5200650"/>
            <a:ext cx="304800" cy="304800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Expected"/>
          <p:cNvSpPr txBox="1"/>
          <p:nvPr/>
        </p:nvSpPr>
        <p:spPr>
          <a:xfrm>
            <a:off x="5915025" y="5086746"/>
            <a:ext cx="350996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60" name="Preprocessing and model choice to be the key drivers of accuracy"/>
          <p:cNvSpPr txBox="1"/>
          <p:nvPr/>
        </p:nvSpPr>
        <p:spPr>
          <a:xfrm>
            <a:off x="5915025" y="5410200"/>
            <a:ext cx="5343525" cy="190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Preprocessing and model choice to be the key drivers of accuracy</a:t>
            </a:r>
          </a:p>
        </p:txBody>
      </p:sp>
      <p:pic>
        <p:nvPicPr>
          <p:cNvPr id="61" name="image-2-17.png" descr="image-2-17.png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7981950" y="2790825"/>
            <a:ext cx="4953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image-2-18.png" descr="image-2-18.png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7981950" y="4333875"/>
            <a:ext cx="495300" cy="533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image-2-19.png" descr="image-2-19.png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9915525" y="133350"/>
            <a:ext cx="1419225" cy="419100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Project Overview"/>
          <p:cNvSpPr txBox="1"/>
          <p:nvPr/>
        </p:nvSpPr>
        <p:spPr>
          <a:xfrm>
            <a:off x="10086975" y="254000"/>
            <a:ext cx="1183959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388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Project Overview</a:t>
            </a:r>
          </a:p>
        </p:txBody>
      </p:sp>
      <p:sp>
        <p:nvSpPr>
          <p:cNvPr id="65" name="02"/>
          <p:cNvSpPr txBox="1"/>
          <p:nvPr/>
        </p:nvSpPr>
        <p:spPr>
          <a:xfrm>
            <a:off x="11391900" y="107950"/>
            <a:ext cx="251459" cy="43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02</a:t>
            </a:r>
          </a:p>
        </p:txBody>
      </p:sp>
      <p:pic>
        <p:nvPicPr>
          <p:cNvPr id="66" name="image-2-20.png" descr="image-2-20.png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>
            <a:off x="8162925" y="2962275"/>
            <a:ext cx="133350" cy="152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image-2-20.png" descr="image-2-20.png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>
            <a:off x="8162925" y="4505325"/>
            <a:ext cx="133350" cy="152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-4-3.png" descr="image-4-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82806" y="-439998"/>
            <a:ext cx="5843998" cy="3291238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rcRect l="0" t="10251" r="0" b="11798"/>
          <a:stretch>
            <a:fillRect/>
          </a:stretch>
        </p:blipFill>
        <p:spPr>
          <a:xfrm>
            <a:off x="125412" y="1470974"/>
            <a:ext cx="11941178" cy="5077207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Model Selection Pipeline: From Preprocessing to Classification"/>
          <p:cNvSpPr txBox="1"/>
          <p:nvPr/>
        </p:nvSpPr>
        <p:spPr>
          <a:xfrm>
            <a:off x="571500" y="279400"/>
            <a:ext cx="11340763" cy="1041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Model Selection Pipeline: From Preprocessing to Classification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image-2-1.png" descr="image-2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image-2-1.png" descr="image-2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image-4-3.png" descr="image-4-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86475" y="0"/>
            <a:ext cx="6105525" cy="3438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image-4-4.png" descr="image-4-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09675" y="1666875"/>
            <a:ext cx="9772650" cy="4924425"/>
          </a:xfrm>
          <a:prstGeom prst="rect">
            <a:avLst/>
          </a:prstGeom>
          <a:ln w="12700">
            <a:miter lim="400000"/>
          </a:ln>
        </p:spPr>
      </p:pic>
      <p:pic>
        <p:nvPicPr>
          <p:cNvPr id="77" name="image-4-5.png" descr="image-4-5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086475" y="2486025"/>
            <a:ext cx="4772025" cy="800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image-4-6.png" descr="image-4-6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267700" y="2686050"/>
            <a:ext cx="409575" cy="409575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image-4-7.png" descr="image-4-7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086475" y="3267075"/>
            <a:ext cx="4772025" cy="790575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image-4-6.png" descr="image-4-6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267700" y="3457575"/>
            <a:ext cx="409575" cy="409575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image-4-7.png" descr="image-4-7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086475" y="4038600"/>
            <a:ext cx="4772025" cy="790575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image-4-6.png" descr="image-4-6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267700" y="4229100"/>
            <a:ext cx="409575" cy="409575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image-4-7.png" descr="image-4-7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086475" y="4810125"/>
            <a:ext cx="4772025" cy="790575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image-4-6.png" descr="image-4-6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267700" y="5000625"/>
            <a:ext cx="409575" cy="409575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image-4-13.png" descr="image-4-13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8267700" y="5772150"/>
            <a:ext cx="409575" cy="409575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Preprocessing Methods"/>
          <p:cNvSpPr txBox="1"/>
          <p:nvPr/>
        </p:nvSpPr>
        <p:spPr>
          <a:xfrm>
            <a:off x="571500" y="539750"/>
            <a:ext cx="8382000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Preprocessing Methods</a:t>
            </a:r>
          </a:p>
        </p:txBody>
      </p:sp>
      <p:sp>
        <p:nvSpPr>
          <p:cNvPr id="87" name="Techniques tested and their application in the best performing models"/>
          <p:cNvSpPr txBox="1"/>
          <p:nvPr/>
        </p:nvSpPr>
        <p:spPr>
          <a:xfrm>
            <a:off x="571500" y="1227931"/>
            <a:ext cx="121539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Techniques tested and their application in the best performing models</a:t>
            </a:r>
          </a:p>
        </p:txBody>
      </p:sp>
      <p:pic>
        <p:nvPicPr>
          <p:cNvPr id="88" name="image-4-14.png" descr="image-4-14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333500" y="1790700"/>
            <a:ext cx="4772025" cy="723900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Techniques Tested"/>
          <p:cNvSpPr txBox="1"/>
          <p:nvPr/>
        </p:nvSpPr>
        <p:spPr>
          <a:xfrm>
            <a:off x="1647825" y="2019299"/>
            <a:ext cx="4557713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Techniques Tested</a:t>
            </a:r>
          </a:p>
        </p:txBody>
      </p:sp>
      <p:pic>
        <p:nvPicPr>
          <p:cNvPr id="90" name="image-4-15.png" descr="image-4-15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6086475" y="1790700"/>
            <a:ext cx="4772025" cy="723900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Used in Best Models"/>
          <p:cNvSpPr txBox="1"/>
          <p:nvPr/>
        </p:nvSpPr>
        <p:spPr>
          <a:xfrm>
            <a:off x="6400800" y="2019299"/>
            <a:ext cx="4557713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7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Used in Best Models</a:t>
            </a:r>
          </a:p>
        </p:txBody>
      </p:sp>
      <p:pic>
        <p:nvPicPr>
          <p:cNvPr id="92" name="image-4-16.png" descr="image-4-16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333500" y="2486025"/>
            <a:ext cx="4772025" cy="800100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Stopword removal"/>
          <p:cNvSpPr txBox="1"/>
          <p:nvPr/>
        </p:nvSpPr>
        <p:spPr>
          <a:xfrm>
            <a:off x="1647825" y="2780507"/>
            <a:ext cx="455771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Stopword removal</a:t>
            </a:r>
          </a:p>
        </p:txBody>
      </p:sp>
      <p:pic>
        <p:nvPicPr>
          <p:cNvPr id="94" name="image-4-17.png" descr="image-4-17.png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8362950" y="2762250"/>
            <a:ext cx="219075" cy="257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image-4-18.png" descr="image-4-18.png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1333500" y="3267075"/>
            <a:ext cx="4772025" cy="790575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Punctuation removal"/>
          <p:cNvSpPr txBox="1"/>
          <p:nvPr/>
        </p:nvSpPr>
        <p:spPr>
          <a:xfrm>
            <a:off x="1647825" y="3554412"/>
            <a:ext cx="455771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Punctuation removal</a:t>
            </a:r>
          </a:p>
        </p:txBody>
      </p:sp>
      <p:pic>
        <p:nvPicPr>
          <p:cNvPr id="97" name="image-4-17.png" descr="image-4-17.png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8362950" y="3533775"/>
            <a:ext cx="219075" cy="257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98" name="image-4-18.png" descr="image-4-18.png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1333500" y="4038600"/>
            <a:ext cx="4772025" cy="790575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Number removal"/>
          <p:cNvSpPr txBox="1"/>
          <p:nvPr/>
        </p:nvSpPr>
        <p:spPr>
          <a:xfrm>
            <a:off x="1647825" y="4325937"/>
            <a:ext cx="455771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Number removal</a:t>
            </a:r>
          </a:p>
        </p:txBody>
      </p:sp>
      <p:pic>
        <p:nvPicPr>
          <p:cNvPr id="100" name="image-4-17.png" descr="image-4-17.png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8362950" y="4305300"/>
            <a:ext cx="219075" cy="257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image-4-18.png" descr="image-4-18.png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1333500" y="4810125"/>
            <a:ext cx="4772025" cy="790575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Stemming"/>
          <p:cNvSpPr txBox="1"/>
          <p:nvPr/>
        </p:nvSpPr>
        <p:spPr>
          <a:xfrm>
            <a:off x="1647825" y="5097462"/>
            <a:ext cx="455771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Stemming</a:t>
            </a:r>
          </a:p>
        </p:txBody>
      </p:sp>
      <p:pic>
        <p:nvPicPr>
          <p:cNvPr id="103" name="image-4-17.png" descr="image-4-17.png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8362950" y="5076825"/>
            <a:ext cx="219075" cy="257175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Lemmatization"/>
          <p:cNvSpPr txBox="1"/>
          <p:nvPr/>
        </p:nvSpPr>
        <p:spPr>
          <a:xfrm>
            <a:off x="1647825" y="5866606"/>
            <a:ext cx="455771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Lemmatization</a:t>
            </a:r>
          </a:p>
        </p:txBody>
      </p:sp>
      <p:pic>
        <p:nvPicPr>
          <p:cNvPr id="105" name="image-4-24.png" descr="image-4-24.png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8353425" y="5848350"/>
            <a:ext cx="238125" cy="257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image-4-25.png" descr="image-4-25.png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10039350" y="133350"/>
            <a:ext cx="1276350" cy="419100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Data Wrangling"/>
          <p:cNvSpPr txBox="1"/>
          <p:nvPr/>
        </p:nvSpPr>
        <p:spPr>
          <a:xfrm>
            <a:off x="10210800" y="254000"/>
            <a:ext cx="1026795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FB981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Data Wrangling</a:t>
            </a:r>
          </a:p>
        </p:txBody>
      </p:sp>
      <p:sp>
        <p:nvSpPr>
          <p:cNvPr id="108" name="04"/>
          <p:cNvSpPr txBox="1"/>
          <p:nvPr/>
        </p:nvSpPr>
        <p:spPr>
          <a:xfrm>
            <a:off x="11372850" y="215900"/>
            <a:ext cx="272416" cy="2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04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image-2-1.png" descr="image-2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" name="image-2-1.png" descr="image-2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image-3-3.png" descr="image-3-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86475" y="0"/>
            <a:ext cx="6105525" cy="3438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image-3-4.png" descr="image-3-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6250" y="2114550"/>
            <a:ext cx="5448300" cy="3876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image-3-5.png" descr="image-3-5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371725" y="2400300"/>
            <a:ext cx="400050" cy="4095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image-3-6.png" descr="image-3-6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762000" y="2971800"/>
            <a:ext cx="4876800" cy="26955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" name="image-3-4.png" descr="image-3-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67450" y="2114550"/>
            <a:ext cx="5448300" cy="3876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" name="image-3-8.png" descr="image-3-8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181975" y="2400300"/>
            <a:ext cx="400050" cy="4095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image-3-9.png" descr="image-3-9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553200" y="2971800"/>
            <a:ext cx="4876800" cy="2695575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Word Cloud Analysis"/>
          <p:cNvSpPr txBox="1"/>
          <p:nvPr/>
        </p:nvSpPr>
        <p:spPr>
          <a:xfrm>
            <a:off x="571500" y="542509"/>
            <a:ext cx="8382000" cy="524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i="1" sz="3400">
                <a:latin typeface="Georgia"/>
                <a:ea typeface="Georgia"/>
                <a:cs typeface="Georgia"/>
                <a:sym typeface="Georgia"/>
              </a:defRPr>
            </a:pPr>
            <a:r>
              <a:t>Word Cloud</a:t>
            </a:r>
            <a:r>
              <a:rPr i="0">
                <a:latin typeface="Verdana"/>
                <a:ea typeface="Verdana"/>
                <a:cs typeface="Verdana"/>
                <a:sym typeface="Verdana"/>
              </a:rPr>
              <a:t> Analysis</a:t>
            </a:r>
          </a:p>
        </p:txBody>
      </p:sp>
      <p:sp>
        <p:nvSpPr>
          <p:cNvPr id="120" name="Visualizing the most frequently used words in Fake and Real news datasets."/>
          <p:cNvSpPr txBox="1"/>
          <p:nvPr/>
        </p:nvSpPr>
        <p:spPr>
          <a:xfrm>
            <a:off x="571500" y="1234678"/>
            <a:ext cx="1215390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Visualizing the most frequently used words in </a:t>
            </a:r>
            <a:r>
              <a:rPr b="1">
                <a:solidFill>
                  <a:srgbClr val="FF6B6B"/>
                </a:solidFill>
              </a:rPr>
              <a:t>Fake</a:t>
            </a:r>
            <a:r>
              <a:t> and </a:t>
            </a:r>
            <a:r>
              <a:rPr b="1">
                <a:solidFill>
                  <a:srgbClr val="0FB981"/>
                </a:solidFill>
              </a:rPr>
              <a:t>Real</a:t>
            </a:r>
            <a:r>
              <a:t> news datasets.</a:t>
            </a:r>
          </a:p>
        </p:txBody>
      </p:sp>
      <p:pic>
        <p:nvPicPr>
          <p:cNvPr id="121" name="image-3-10.png" descr="image-3-10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2466975" y="2495550"/>
            <a:ext cx="209550" cy="219075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Fake News"/>
          <p:cNvSpPr txBox="1"/>
          <p:nvPr/>
        </p:nvSpPr>
        <p:spPr>
          <a:xfrm>
            <a:off x="2876550" y="2334816"/>
            <a:ext cx="12573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Fake News</a:t>
            </a:r>
          </a:p>
        </p:txBody>
      </p:sp>
      <p:pic>
        <p:nvPicPr>
          <p:cNvPr id="123" name="image-3-11.png" descr="image-3-11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8277225" y="2495550"/>
            <a:ext cx="209550" cy="219075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Real News"/>
          <p:cNvSpPr txBox="1"/>
          <p:nvPr/>
        </p:nvSpPr>
        <p:spPr>
          <a:xfrm>
            <a:off x="8686800" y="2334816"/>
            <a:ext cx="121539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Real News</a:t>
            </a:r>
          </a:p>
        </p:txBody>
      </p:sp>
      <p:pic>
        <p:nvPicPr>
          <p:cNvPr id="125" name="image-3-12.png" descr="image-3-12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9439275" y="133350"/>
            <a:ext cx="1895475" cy="419100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Exploratory Data Analysis"/>
          <p:cNvSpPr txBox="1"/>
          <p:nvPr/>
        </p:nvSpPr>
        <p:spPr>
          <a:xfrm>
            <a:off x="9610725" y="254000"/>
            <a:ext cx="1707833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388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Exploratory Data Analysis</a:t>
            </a:r>
          </a:p>
        </p:txBody>
      </p:sp>
      <p:sp>
        <p:nvSpPr>
          <p:cNvPr id="127" name="03"/>
          <p:cNvSpPr txBox="1"/>
          <p:nvPr/>
        </p:nvSpPr>
        <p:spPr>
          <a:xfrm>
            <a:off x="11391900" y="107950"/>
            <a:ext cx="251459" cy="43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03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image-2-1.png" descr="image-2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image-2-1.png" descr="image-2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image-3-3.png" descr="image-3-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86475" y="0"/>
            <a:ext cx="6105525" cy="3438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image-6-4.png" descr="image-6-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00100" y="1743075"/>
            <a:ext cx="10591800" cy="4600575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Model Comparison"/>
          <p:cNvSpPr txBox="1"/>
          <p:nvPr/>
        </p:nvSpPr>
        <p:spPr>
          <a:xfrm>
            <a:off x="571500" y="539750"/>
            <a:ext cx="7019925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Model Comparison</a:t>
            </a:r>
          </a:p>
        </p:txBody>
      </p:sp>
      <p:sp>
        <p:nvSpPr>
          <p:cNvPr id="134" name="Training vs. Test Accuracy across different modeling approaches"/>
          <p:cNvSpPr txBox="1"/>
          <p:nvPr/>
        </p:nvSpPr>
        <p:spPr>
          <a:xfrm>
            <a:off x="571500" y="1225153"/>
            <a:ext cx="1215390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Training vs. Test Accuracy across different modeling approaches</a:t>
            </a:r>
          </a:p>
        </p:txBody>
      </p:sp>
      <p:pic>
        <p:nvPicPr>
          <p:cNvPr id="135" name="image-6-5.png" descr="image-6-5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333500" y="2120502"/>
            <a:ext cx="9525000" cy="3810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image-6-6.png" descr="image-6-6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858375" y="133350"/>
            <a:ext cx="1476375" cy="419100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Model Comparison"/>
          <p:cNvSpPr txBox="1"/>
          <p:nvPr/>
        </p:nvSpPr>
        <p:spPr>
          <a:xfrm>
            <a:off x="10029825" y="254000"/>
            <a:ext cx="1246824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388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Model Comparison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image-2-1.png" descr="image-2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image-2-1.png" descr="image-2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image-4-3.png" descr="image-4-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86475" y="0"/>
            <a:ext cx="6105525" cy="3438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" name="image-7-4.png" descr="image-7-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00100" y="2257425"/>
            <a:ext cx="3409950" cy="3733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image-7-5.png" descr="image-7-5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181225" y="2619375"/>
            <a:ext cx="638175" cy="638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4" name="image-7-6.png" descr="image-7-6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162050" y="4714875"/>
            <a:ext cx="2686050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" name="image-7-7.png" descr="image-7-7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391025" y="2257425"/>
            <a:ext cx="3409950" cy="3733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" name="image-7-8.png" descr="image-7-8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772150" y="2619375"/>
            <a:ext cx="638175" cy="638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" name="image-7-9.png" descr="image-7-9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752975" y="4714875"/>
            <a:ext cx="2686050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" name="image-7-10.png" descr="image-7-10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7839075" y="2114550"/>
            <a:ext cx="3695700" cy="41719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image-7-11.png" descr="image-7-11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9058275" y="2085975"/>
            <a:ext cx="1266825" cy="4667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image-7-12.png" descr="image-7-12.png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9344025" y="2600325"/>
            <a:ext cx="695325" cy="7048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image-7-13.png" descr="image-7-13.png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8324850" y="4391025"/>
            <a:ext cx="2724150" cy="12287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" name="image-7-14.png" descr="image-7-14.png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8515350" y="4581525"/>
            <a:ext cx="2343150" cy="381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Best Models"/>
          <p:cNvSpPr txBox="1"/>
          <p:nvPr/>
        </p:nvSpPr>
        <p:spPr>
          <a:xfrm>
            <a:off x="571500" y="539750"/>
            <a:ext cx="7019925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Best Models</a:t>
            </a:r>
          </a:p>
        </p:txBody>
      </p:sp>
      <p:sp>
        <p:nvSpPr>
          <p:cNvPr id="154" name="Comparing the top 3 performing models. The Ensemble approach emerges as the clear winner."/>
          <p:cNvSpPr txBox="1"/>
          <p:nvPr/>
        </p:nvSpPr>
        <p:spPr>
          <a:xfrm>
            <a:off x="571500" y="1225153"/>
            <a:ext cx="1215390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Comparing the top 3 performing models. The Ensemble approach emerges as the clear winner.</a:t>
            </a:r>
          </a:p>
        </p:txBody>
      </p:sp>
      <p:pic>
        <p:nvPicPr>
          <p:cNvPr id="155" name="image-7-15.png" descr="image-7-15.png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2362200" y="2809875"/>
            <a:ext cx="285750" cy="257175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Model 13"/>
          <p:cNvSpPr txBox="1"/>
          <p:nvPr/>
        </p:nvSpPr>
        <p:spPr>
          <a:xfrm>
            <a:off x="2039838" y="3411141"/>
            <a:ext cx="114204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Model 13</a:t>
            </a:r>
          </a:p>
        </p:txBody>
      </p:sp>
      <p:sp>
        <p:nvSpPr>
          <p:cNvPr id="157" name="SVM…"/>
          <p:cNvSpPr txBox="1"/>
          <p:nvPr/>
        </p:nvSpPr>
        <p:spPr>
          <a:xfrm>
            <a:off x="2035075" y="3792141"/>
            <a:ext cx="1026796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9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SVM</a:t>
            </a:r>
          </a:p>
          <a:p>
            <a:pPr algn="ctr">
              <a:defRPr b="1" sz="9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rPr b="0" sz="800"/>
              <a:t>TF-IDF / St / N-Gr</a:t>
            </a:r>
          </a:p>
        </p:txBody>
      </p:sp>
      <p:sp>
        <p:nvSpPr>
          <p:cNvPr id="158" name="Train Accuracy"/>
          <p:cNvSpPr txBox="1"/>
          <p:nvPr/>
        </p:nvSpPr>
        <p:spPr>
          <a:xfrm>
            <a:off x="1171575" y="4693841"/>
            <a:ext cx="1142049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Train Accuracy</a:t>
            </a:r>
          </a:p>
        </p:txBody>
      </p:sp>
      <p:sp>
        <p:nvSpPr>
          <p:cNvPr id="159" name="94.44%"/>
          <p:cNvSpPr txBox="1"/>
          <p:nvPr/>
        </p:nvSpPr>
        <p:spPr>
          <a:xfrm>
            <a:off x="3241625" y="4763691"/>
            <a:ext cx="69532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94.44%</a:t>
            </a:r>
          </a:p>
        </p:txBody>
      </p:sp>
      <p:sp>
        <p:nvSpPr>
          <p:cNvPr id="160" name="Test Accuracy"/>
          <p:cNvSpPr txBox="1"/>
          <p:nvPr/>
        </p:nvSpPr>
        <p:spPr>
          <a:xfrm>
            <a:off x="1171575" y="5274866"/>
            <a:ext cx="10896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Test Accuracy</a:t>
            </a:r>
          </a:p>
        </p:txBody>
      </p:sp>
      <p:sp>
        <p:nvSpPr>
          <p:cNvPr id="161" name="93.53%"/>
          <p:cNvSpPr txBox="1"/>
          <p:nvPr/>
        </p:nvSpPr>
        <p:spPr>
          <a:xfrm>
            <a:off x="3232100" y="5344716"/>
            <a:ext cx="69532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FB981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93.53%</a:t>
            </a:r>
          </a:p>
        </p:txBody>
      </p:sp>
      <p:pic>
        <p:nvPicPr>
          <p:cNvPr id="162" name="image-7-16.png" descr="image-7-16.png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5934075" y="2809875"/>
            <a:ext cx="314325" cy="257175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Model 18"/>
          <p:cNvSpPr txBox="1"/>
          <p:nvPr/>
        </p:nvSpPr>
        <p:spPr>
          <a:xfrm>
            <a:off x="5559312" y="3411141"/>
            <a:ext cx="1157853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Model 18</a:t>
            </a:r>
          </a:p>
        </p:txBody>
      </p:sp>
      <p:sp>
        <p:nvSpPr>
          <p:cNvPr id="164" name="Naive Bayes…"/>
          <p:cNvSpPr txBox="1"/>
          <p:nvPr/>
        </p:nvSpPr>
        <p:spPr>
          <a:xfrm>
            <a:off x="5671989" y="3792141"/>
            <a:ext cx="93249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9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Naive Bayes</a:t>
            </a:r>
          </a:p>
          <a:p>
            <a:pPr algn="ctr">
              <a:defRPr b="1" sz="9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rPr b="0" sz="800"/>
              <a:t>TF-IDF / N-gram</a:t>
            </a:r>
          </a:p>
        </p:txBody>
      </p:sp>
      <p:sp>
        <p:nvSpPr>
          <p:cNvPr id="165" name="Train Accuracy"/>
          <p:cNvSpPr txBox="1"/>
          <p:nvPr/>
        </p:nvSpPr>
        <p:spPr>
          <a:xfrm>
            <a:off x="4765625" y="4693841"/>
            <a:ext cx="1142049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Train Accuracy</a:t>
            </a:r>
          </a:p>
        </p:txBody>
      </p:sp>
      <p:sp>
        <p:nvSpPr>
          <p:cNvPr id="166" name="95.99%"/>
          <p:cNvSpPr txBox="1"/>
          <p:nvPr/>
        </p:nvSpPr>
        <p:spPr>
          <a:xfrm>
            <a:off x="6864250" y="4763691"/>
            <a:ext cx="69452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95.99%</a:t>
            </a:r>
          </a:p>
        </p:txBody>
      </p:sp>
      <p:sp>
        <p:nvSpPr>
          <p:cNvPr id="167" name="Test Accuracy"/>
          <p:cNvSpPr txBox="1"/>
          <p:nvPr/>
        </p:nvSpPr>
        <p:spPr>
          <a:xfrm>
            <a:off x="4765625" y="5274866"/>
            <a:ext cx="10896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Test Accuracy</a:t>
            </a:r>
          </a:p>
        </p:txBody>
      </p:sp>
      <p:sp>
        <p:nvSpPr>
          <p:cNvPr id="168" name="94.28%"/>
          <p:cNvSpPr txBox="1"/>
          <p:nvPr/>
        </p:nvSpPr>
        <p:spPr>
          <a:xfrm>
            <a:off x="6845200" y="5344716"/>
            <a:ext cx="69601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FB981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94.28%</a:t>
            </a:r>
          </a:p>
        </p:txBody>
      </p:sp>
      <p:pic>
        <p:nvPicPr>
          <p:cNvPr id="169" name="image-7-17.png" descr="image-7-17.png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9267825" y="2219325"/>
            <a:ext cx="180975" cy="161925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Winner"/>
          <p:cNvSpPr txBox="1"/>
          <p:nvPr/>
        </p:nvSpPr>
        <p:spPr>
          <a:xfrm>
            <a:off x="9512796" y="2226866"/>
            <a:ext cx="64125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Winner</a:t>
            </a:r>
          </a:p>
        </p:txBody>
      </p:sp>
      <p:pic>
        <p:nvPicPr>
          <p:cNvPr id="171" name="image-7-18.png" descr="image-7-18.png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9544050" y="2819400"/>
            <a:ext cx="285750" cy="257175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Model 19"/>
          <p:cNvSpPr txBox="1"/>
          <p:nvPr/>
        </p:nvSpPr>
        <p:spPr>
          <a:xfrm>
            <a:off x="9234800" y="3420666"/>
            <a:ext cx="1246824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Model 19</a:t>
            </a:r>
          </a:p>
        </p:txBody>
      </p:sp>
      <p:sp>
        <p:nvSpPr>
          <p:cNvPr id="173" name="Ensemble…"/>
          <p:cNvSpPr txBox="1"/>
          <p:nvPr/>
        </p:nvSpPr>
        <p:spPr>
          <a:xfrm>
            <a:off x="9361437" y="3801666"/>
            <a:ext cx="72294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900">
                <a:solidFill>
                  <a:srgbClr val="2388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t>Ensemble</a:t>
            </a:r>
          </a:p>
          <a:p>
            <a:pPr algn="ctr">
              <a:defRPr b="1" sz="900">
                <a:solidFill>
                  <a:srgbClr val="2388FF"/>
                </a:solidFill>
                <a:latin typeface="Verdana"/>
                <a:ea typeface="Verdana"/>
                <a:cs typeface="Verdana"/>
                <a:sym typeface="Verdana"/>
              </a:defRPr>
            </a:pPr>
            <a:r>
              <a:rPr b="0" sz="800">
                <a:solidFill>
                  <a:srgbClr val="666666"/>
                </a:solidFill>
              </a:rPr>
              <a:t>Triple Hybrid</a:t>
            </a:r>
          </a:p>
        </p:txBody>
      </p:sp>
      <p:sp>
        <p:nvSpPr>
          <p:cNvPr id="174" name="Train Accuracy"/>
          <p:cNvSpPr txBox="1"/>
          <p:nvPr/>
        </p:nvSpPr>
        <p:spPr>
          <a:xfrm>
            <a:off x="8531125" y="4560491"/>
            <a:ext cx="1142049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Train Accuracy</a:t>
            </a:r>
          </a:p>
        </p:txBody>
      </p:sp>
      <p:sp>
        <p:nvSpPr>
          <p:cNvPr id="175" name="97.10%"/>
          <p:cNvSpPr txBox="1"/>
          <p:nvPr/>
        </p:nvSpPr>
        <p:spPr>
          <a:xfrm>
            <a:off x="10287000" y="4630341"/>
            <a:ext cx="695325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97.10%</a:t>
            </a:r>
          </a:p>
        </p:txBody>
      </p:sp>
      <p:sp>
        <p:nvSpPr>
          <p:cNvPr id="176" name="Test Accuracy"/>
          <p:cNvSpPr txBox="1"/>
          <p:nvPr/>
        </p:nvSpPr>
        <p:spPr>
          <a:xfrm>
            <a:off x="8531125" y="5185966"/>
            <a:ext cx="110013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2388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Test Accuracy</a:t>
            </a:r>
          </a:p>
        </p:txBody>
      </p:sp>
      <p:sp>
        <p:nvSpPr>
          <p:cNvPr id="177" name="95.58%"/>
          <p:cNvSpPr txBox="1"/>
          <p:nvPr/>
        </p:nvSpPr>
        <p:spPr>
          <a:xfrm>
            <a:off x="10191750" y="5160566"/>
            <a:ext cx="80962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388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95.58%</a:t>
            </a:r>
          </a:p>
        </p:txBody>
      </p:sp>
      <p:pic>
        <p:nvPicPr>
          <p:cNvPr id="178" name="image-6-6.png" descr="image-6-6.png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>
            <a:off x="9858375" y="133350"/>
            <a:ext cx="1476375" cy="419100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Model Comparison"/>
          <p:cNvSpPr txBox="1"/>
          <p:nvPr/>
        </p:nvSpPr>
        <p:spPr>
          <a:xfrm>
            <a:off x="10029825" y="254000"/>
            <a:ext cx="1246824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FB981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Model Comparison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image-2-1.png" descr="image-2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image-2-1.png" descr="image-2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" name="image-9-3.png" descr="image-9-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86475" y="0"/>
            <a:ext cx="6105525" cy="6105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image-9-4.png" descr="image-9-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33400" y="2171700"/>
            <a:ext cx="533400" cy="5524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image-9-4.png" descr="image-9-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33400" y="3028950"/>
            <a:ext cx="533400" cy="5524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6" name="image-9-4.png" descr="image-9-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33400" y="3886200"/>
            <a:ext cx="533400" cy="5524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image-9-7.png" descr="image-9-7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33400" y="4743450"/>
            <a:ext cx="533400" cy="5524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image-9-8.png" descr="image-9-8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257925" y="1647825"/>
            <a:ext cx="5391150" cy="4352925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Testing Validation"/>
          <p:cNvSpPr txBox="1"/>
          <p:nvPr/>
        </p:nvSpPr>
        <p:spPr>
          <a:xfrm>
            <a:off x="571500" y="542509"/>
            <a:ext cx="7019925" cy="524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i="1" sz="3400">
                <a:latin typeface="Georgia"/>
                <a:ea typeface="Georgia"/>
                <a:cs typeface="Georgia"/>
                <a:sym typeface="Georgia"/>
              </a:defRPr>
            </a:pPr>
            <a:r>
              <a:t>Testing</a:t>
            </a:r>
            <a:r>
              <a:rPr i="0">
                <a:latin typeface="Verdana"/>
                <a:ea typeface="Verdana"/>
                <a:cs typeface="Verdana"/>
                <a:sym typeface="Verdana"/>
              </a:rPr>
              <a:t> Validation</a:t>
            </a:r>
          </a:p>
        </p:txBody>
      </p:sp>
      <p:pic>
        <p:nvPicPr>
          <p:cNvPr id="190" name="image-9-9.png" descr="image-9-9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95325" y="2333625"/>
            <a:ext cx="209550" cy="219075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Testing Approach"/>
          <p:cNvSpPr txBox="1"/>
          <p:nvPr/>
        </p:nvSpPr>
        <p:spPr>
          <a:xfrm>
            <a:off x="1181099" y="2239963"/>
            <a:ext cx="51968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Testing Approach</a:t>
            </a:r>
          </a:p>
        </p:txBody>
      </p:sp>
      <p:sp>
        <p:nvSpPr>
          <p:cNvPr id="192" name="Evaluated models using Accuracy and F1-score metrics."/>
          <p:cNvSpPr txBox="1"/>
          <p:nvPr/>
        </p:nvSpPr>
        <p:spPr>
          <a:xfrm>
            <a:off x="1181099" y="2560638"/>
            <a:ext cx="519684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Evaluated models using Accuracy and F1-score metrics.</a:t>
            </a:r>
          </a:p>
        </p:txBody>
      </p:sp>
      <p:pic>
        <p:nvPicPr>
          <p:cNvPr id="193" name="image-9-10.png" descr="image-9-10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95325" y="3190875"/>
            <a:ext cx="209550" cy="219075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Cross-Validation"/>
          <p:cNvSpPr txBox="1"/>
          <p:nvPr/>
        </p:nvSpPr>
        <p:spPr>
          <a:xfrm>
            <a:off x="1181099" y="3097213"/>
            <a:ext cx="51968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Cross-Validation</a:t>
            </a:r>
          </a:p>
        </p:txBody>
      </p:sp>
      <p:sp>
        <p:nvSpPr>
          <p:cNvPr id="195" name="Applied to ensure robust performance across data splits."/>
          <p:cNvSpPr txBox="1"/>
          <p:nvPr/>
        </p:nvSpPr>
        <p:spPr>
          <a:xfrm>
            <a:off x="1181099" y="3417887"/>
            <a:ext cx="519684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Applied to ensure robust performance across data splits.</a:t>
            </a:r>
          </a:p>
        </p:txBody>
      </p:sp>
      <p:sp>
        <p:nvSpPr>
          <p:cNvPr id="196" name="Train-Test Gap Analysis"/>
          <p:cNvSpPr txBox="1"/>
          <p:nvPr/>
        </p:nvSpPr>
        <p:spPr>
          <a:xfrm>
            <a:off x="1181099" y="3954462"/>
            <a:ext cx="51968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Train-Test Gap Analysis</a:t>
            </a:r>
          </a:p>
        </p:txBody>
      </p:sp>
      <p:sp>
        <p:nvSpPr>
          <p:cNvPr id="197" name="Monitored differences to identify and prevent overfitting."/>
          <p:cNvSpPr txBox="1"/>
          <p:nvPr/>
        </p:nvSpPr>
        <p:spPr>
          <a:xfrm>
            <a:off x="1181099" y="4275137"/>
            <a:ext cx="519684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Monitored differences to identify and prevent overfitting.</a:t>
            </a:r>
          </a:p>
        </p:txBody>
      </p:sp>
      <p:pic>
        <p:nvPicPr>
          <p:cNvPr id="198" name="image-9-11.png" descr="image-9-11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95325" y="4905375"/>
            <a:ext cx="209550" cy="219075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Generalization"/>
          <p:cNvSpPr txBox="1"/>
          <p:nvPr/>
        </p:nvSpPr>
        <p:spPr>
          <a:xfrm>
            <a:off x="1181099" y="4811712"/>
            <a:ext cx="51968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Generalization</a:t>
            </a:r>
          </a:p>
        </p:txBody>
      </p:sp>
      <p:sp>
        <p:nvSpPr>
          <p:cNvPr id="200" name="Focused on real-world readiness over pure training scores."/>
          <p:cNvSpPr txBox="1"/>
          <p:nvPr/>
        </p:nvSpPr>
        <p:spPr>
          <a:xfrm>
            <a:off x="1181099" y="5132387"/>
            <a:ext cx="519684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Focused on real-world readiness over pure training scores.</a:t>
            </a:r>
          </a:p>
        </p:txBody>
      </p:sp>
      <p:sp>
        <p:nvSpPr>
          <p:cNvPr id="201" name="Accuracy: Training vs Testing"/>
          <p:cNvSpPr txBox="1"/>
          <p:nvPr/>
        </p:nvSpPr>
        <p:spPr>
          <a:xfrm>
            <a:off x="7710486" y="1944688"/>
            <a:ext cx="2486026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i="1" sz="1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Accuracy: Training vs Testing</a:t>
            </a:r>
          </a:p>
        </p:txBody>
      </p:sp>
      <p:pic>
        <p:nvPicPr>
          <p:cNvPr id="202" name="image-9-12.png" descr="image-9-12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6667500" y="2509838"/>
            <a:ext cx="4572000" cy="2857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image-9-13.png" descr="image-9-13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9896475" y="133350"/>
            <a:ext cx="1438275" cy="419100"/>
          </a:xfrm>
          <a:prstGeom prst="rect">
            <a:avLst/>
          </a:prstGeom>
          <a:ln w="12700">
            <a:miter lim="400000"/>
          </a:ln>
        </p:spPr>
      </p:pic>
      <p:sp>
        <p:nvSpPr>
          <p:cNvPr id="204" name="Testing Validation"/>
          <p:cNvSpPr txBox="1"/>
          <p:nvPr/>
        </p:nvSpPr>
        <p:spPr>
          <a:xfrm>
            <a:off x="10067925" y="254000"/>
            <a:ext cx="1204913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9A5E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Testing Validation</a:t>
            </a:r>
          </a:p>
        </p:txBody>
      </p:sp>
      <p:sp>
        <p:nvSpPr>
          <p:cNvPr id="205" name="09"/>
          <p:cNvSpPr txBox="1"/>
          <p:nvPr/>
        </p:nvSpPr>
        <p:spPr>
          <a:xfrm>
            <a:off x="11391900" y="107950"/>
            <a:ext cx="251459" cy="43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09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image-2-1.png" descr="image-2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image-2-1.png" descr="image-2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9" name="image-4-3.png" descr="image-4-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86475" y="0"/>
            <a:ext cx="6105525" cy="3438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10" name="image-8-4.png" descr="image-8-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9150" y="2333625"/>
            <a:ext cx="3028950" cy="19907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11" name="image-8-5.png" descr="image-8-5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095500" y="2600325"/>
            <a:ext cx="4762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2" name="image-8-4.png" descr="image-8-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581525" y="2333625"/>
            <a:ext cx="3028950" cy="19907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13" name="image-8-7.png" descr="image-8-7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857875" y="2600325"/>
            <a:ext cx="4762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image-8-4.png" descr="image-8-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343900" y="2333625"/>
            <a:ext cx="3028950" cy="19907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image-8-9.png" descr="image-8-9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620250" y="2600325"/>
            <a:ext cx="476250" cy="400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" name="image-8-10.png" descr="image-8-10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33425" y="4457700"/>
            <a:ext cx="10725150" cy="1562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7" name="image-8-11.png" descr="image-8-11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152525" y="4876800"/>
            <a:ext cx="2486025" cy="628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image-8-11.png" descr="image-8-11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3619500" y="4876800"/>
            <a:ext cx="2486025" cy="628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image-8-11.png" descr="image-8-11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086475" y="4876800"/>
            <a:ext cx="2486025" cy="628650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Winner Model"/>
          <p:cNvSpPr txBox="1"/>
          <p:nvPr/>
        </p:nvSpPr>
        <p:spPr>
          <a:xfrm>
            <a:off x="571500" y="539750"/>
            <a:ext cx="8382000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4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Winner Model</a:t>
            </a:r>
          </a:p>
        </p:txBody>
      </p:sp>
      <p:sp>
        <p:nvSpPr>
          <p:cNvPr id="221" name="Triple Hybrid Ensemble"/>
          <p:cNvSpPr txBox="1"/>
          <p:nvPr/>
        </p:nvSpPr>
        <p:spPr>
          <a:xfrm>
            <a:off x="571500" y="1212850"/>
            <a:ext cx="11049000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400">
                <a:solidFill>
                  <a:srgbClr val="2388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Triple Hybrid Ensemble</a:t>
            </a:r>
          </a:p>
        </p:txBody>
      </p:sp>
      <p:sp>
        <p:nvSpPr>
          <p:cNvPr id="222" name="Combining statistical, linear, and semantic approaches for maximum robustness."/>
          <p:cNvSpPr txBox="1"/>
          <p:nvPr/>
        </p:nvSpPr>
        <p:spPr>
          <a:xfrm>
            <a:off x="571500" y="1527175"/>
            <a:ext cx="12153900" cy="16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Combining statistical, linear, and semantic approaches for maximum robustness.</a:t>
            </a:r>
          </a:p>
        </p:txBody>
      </p:sp>
      <p:pic>
        <p:nvPicPr>
          <p:cNvPr id="223" name="image-8-14.png" descr="image-8-14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2228850" y="2686050"/>
            <a:ext cx="209550" cy="219075"/>
          </a:xfrm>
          <a:prstGeom prst="rect">
            <a:avLst/>
          </a:prstGeom>
          <a:ln w="12700">
            <a:miter lim="400000"/>
          </a:ln>
        </p:spPr>
      </p:pic>
      <p:sp>
        <p:nvSpPr>
          <p:cNvPr id="224" name="Multinomial…"/>
          <p:cNvSpPr txBox="1"/>
          <p:nvPr/>
        </p:nvSpPr>
        <p:spPr>
          <a:xfrm>
            <a:off x="1847850" y="3124200"/>
            <a:ext cx="106870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latin typeface="Verdana"/>
                <a:ea typeface="Verdana"/>
                <a:cs typeface="Verdana"/>
                <a:sym typeface="Verdana"/>
              </a:defRPr>
            </a:pPr>
            <a:r>
              <a:t>Multinomial</a:t>
            </a:r>
          </a:p>
          <a:p>
            <a:pPr algn="ctr">
              <a:defRPr b="1" sz="1200">
                <a:latin typeface="Verdana"/>
                <a:ea typeface="Verdana"/>
                <a:cs typeface="Verdana"/>
                <a:sym typeface="Verdana"/>
              </a:defRPr>
            </a:pPr>
            <a:r>
              <a:t>Naive Bayes</a:t>
            </a:r>
          </a:p>
        </p:txBody>
      </p:sp>
      <p:sp>
        <p:nvSpPr>
          <p:cNvPr id="225" name="Captures frequency-based patterns and keyword indicators."/>
          <p:cNvSpPr txBox="1"/>
          <p:nvPr/>
        </p:nvSpPr>
        <p:spPr>
          <a:xfrm>
            <a:off x="1095375" y="3682207"/>
            <a:ext cx="272415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Captures frequency-based patterns and keyword indicators.</a:t>
            </a:r>
          </a:p>
        </p:txBody>
      </p:sp>
      <p:pic>
        <p:nvPicPr>
          <p:cNvPr id="226" name="image-8-15.png" descr="image-8-15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4095750" y="3200400"/>
            <a:ext cx="238125" cy="247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image-8-16.png" descr="image-8-16.png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5991225" y="2686050"/>
            <a:ext cx="209550" cy="219075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Logistic…"/>
          <p:cNvSpPr txBox="1"/>
          <p:nvPr/>
        </p:nvSpPr>
        <p:spPr>
          <a:xfrm>
            <a:off x="5662612" y="3124200"/>
            <a:ext cx="953454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latin typeface="Verdana"/>
                <a:ea typeface="Verdana"/>
                <a:cs typeface="Verdana"/>
                <a:sym typeface="Verdana"/>
              </a:defRPr>
            </a:pPr>
            <a:r>
              <a:t>Logistic</a:t>
            </a:r>
          </a:p>
          <a:p>
            <a:pPr algn="ctr">
              <a:defRPr b="1" sz="1200">
                <a:latin typeface="Verdana"/>
                <a:ea typeface="Verdana"/>
                <a:cs typeface="Verdana"/>
                <a:sym typeface="Verdana"/>
              </a:defRPr>
            </a:pPr>
            <a:r>
              <a:t>Regression</a:t>
            </a:r>
          </a:p>
        </p:txBody>
      </p:sp>
      <p:sp>
        <p:nvSpPr>
          <p:cNvPr id="229" name="Determines the weighted importance of specific terms."/>
          <p:cNvSpPr txBox="1"/>
          <p:nvPr/>
        </p:nvSpPr>
        <p:spPr>
          <a:xfrm>
            <a:off x="4857750" y="3682207"/>
            <a:ext cx="272415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Determines the weighted importance of specific terms.</a:t>
            </a:r>
          </a:p>
        </p:txBody>
      </p:sp>
      <p:pic>
        <p:nvPicPr>
          <p:cNvPr id="230" name="image-8-15.png" descr="image-8-15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7858125" y="3200400"/>
            <a:ext cx="238125" cy="247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image-8-18.png" descr="image-8-18.png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9753600" y="2686050"/>
            <a:ext cx="209550" cy="219075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FastText…"/>
          <p:cNvSpPr txBox="1"/>
          <p:nvPr/>
        </p:nvSpPr>
        <p:spPr>
          <a:xfrm>
            <a:off x="9363075" y="3124200"/>
            <a:ext cx="108966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latin typeface="Verdana"/>
                <a:ea typeface="Verdana"/>
                <a:cs typeface="Verdana"/>
                <a:sym typeface="Verdana"/>
              </a:defRPr>
            </a:pPr>
            <a:r>
              <a:t>FastText</a:t>
            </a:r>
          </a:p>
          <a:p>
            <a:pPr algn="ctr">
              <a:defRPr b="1" sz="1200">
                <a:latin typeface="Verdana"/>
                <a:ea typeface="Verdana"/>
                <a:cs typeface="Verdana"/>
                <a:sym typeface="Verdana"/>
              </a:defRPr>
            </a:pPr>
            <a:r>
              <a:t>Embeddings</a:t>
            </a:r>
          </a:p>
        </p:txBody>
      </p:sp>
      <p:sp>
        <p:nvSpPr>
          <p:cNvPr id="233" name="Uses sub-word embeddings for deep semantic understanding."/>
          <p:cNvSpPr txBox="1"/>
          <p:nvPr/>
        </p:nvSpPr>
        <p:spPr>
          <a:xfrm>
            <a:off x="8545830" y="3676650"/>
            <a:ext cx="2724151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66666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Uses sub-word embeddings for deep semantic understanding.</a:t>
            </a:r>
          </a:p>
        </p:txBody>
      </p:sp>
      <p:pic>
        <p:nvPicPr>
          <p:cNvPr id="234" name="image-8-19.png" descr="image-8-19.png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847725" y="4572000"/>
            <a:ext cx="10496550" cy="1238250"/>
          </a:xfrm>
          <a:prstGeom prst="rect">
            <a:avLst/>
          </a:prstGeom>
          <a:ln w="12700">
            <a:miter lim="400000"/>
          </a:ln>
        </p:spPr>
      </p:pic>
      <p:sp>
        <p:nvSpPr>
          <p:cNvPr id="235" name="Test Accuracy"/>
          <p:cNvSpPr txBox="1"/>
          <p:nvPr/>
        </p:nvSpPr>
        <p:spPr>
          <a:xfrm>
            <a:off x="1804391" y="4911725"/>
            <a:ext cx="1289879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Test Accuracy</a:t>
            </a:r>
          </a:p>
        </p:txBody>
      </p:sp>
      <p:sp>
        <p:nvSpPr>
          <p:cNvPr id="236" name="95.58%"/>
          <p:cNvSpPr txBox="1"/>
          <p:nvPr/>
        </p:nvSpPr>
        <p:spPr>
          <a:xfrm>
            <a:off x="1759313" y="5127625"/>
            <a:ext cx="1272450" cy="35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2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95.58%</a:t>
            </a:r>
          </a:p>
        </p:txBody>
      </p:sp>
      <p:sp>
        <p:nvSpPr>
          <p:cNvPr id="237" name="Train Accuracy"/>
          <p:cNvSpPr txBox="1"/>
          <p:nvPr/>
        </p:nvSpPr>
        <p:spPr>
          <a:xfrm>
            <a:off x="4225230" y="4911725"/>
            <a:ext cx="1391544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Train Accuracy</a:t>
            </a:r>
          </a:p>
        </p:txBody>
      </p:sp>
      <p:sp>
        <p:nvSpPr>
          <p:cNvPr id="238" name="97.06%"/>
          <p:cNvSpPr txBox="1"/>
          <p:nvPr/>
        </p:nvSpPr>
        <p:spPr>
          <a:xfrm>
            <a:off x="4225230" y="5127625"/>
            <a:ext cx="1258074" cy="35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2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97.06%</a:t>
            </a:r>
          </a:p>
        </p:txBody>
      </p:sp>
      <p:sp>
        <p:nvSpPr>
          <p:cNvPr id="239" name="F1-Score"/>
          <p:cNvSpPr txBox="1"/>
          <p:nvPr/>
        </p:nvSpPr>
        <p:spPr>
          <a:xfrm>
            <a:off x="6978847" y="4911725"/>
            <a:ext cx="760766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F1-Score</a:t>
            </a:r>
          </a:p>
        </p:txBody>
      </p:sp>
      <p:sp>
        <p:nvSpPr>
          <p:cNvPr id="240" name="0.9327"/>
          <p:cNvSpPr txBox="1"/>
          <p:nvPr/>
        </p:nvSpPr>
        <p:spPr>
          <a:xfrm>
            <a:off x="6765466" y="5127625"/>
            <a:ext cx="1187528" cy="35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2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0.9327</a:t>
            </a:r>
          </a:p>
        </p:txBody>
      </p:sp>
      <p:sp>
        <p:nvSpPr>
          <p:cNvPr id="241" name="Generalization Gap"/>
          <p:cNvSpPr txBox="1"/>
          <p:nvPr/>
        </p:nvSpPr>
        <p:spPr>
          <a:xfrm>
            <a:off x="9007672" y="4911725"/>
            <a:ext cx="1735173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Generalization Gap</a:t>
            </a:r>
          </a:p>
        </p:txBody>
      </p:sp>
      <p:sp>
        <p:nvSpPr>
          <p:cNvPr id="242" name="1.48%"/>
          <p:cNvSpPr txBox="1"/>
          <p:nvPr/>
        </p:nvSpPr>
        <p:spPr>
          <a:xfrm>
            <a:off x="9372600" y="5127625"/>
            <a:ext cx="971550" cy="35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2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1.48%</a:t>
            </a:r>
          </a:p>
        </p:txBody>
      </p:sp>
      <p:pic>
        <p:nvPicPr>
          <p:cNvPr id="243" name="image-6-6.png" descr="image-6-6.png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9848850" y="133350"/>
            <a:ext cx="1476375" cy="419100"/>
          </a:xfrm>
          <a:prstGeom prst="rect">
            <a:avLst/>
          </a:prstGeom>
          <a:ln w="12700">
            <a:miter lim="400000"/>
          </a:ln>
        </p:spPr>
      </p:pic>
      <p:sp>
        <p:nvSpPr>
          <p:cNvPr id="244" name="Model Comparison"/>
          <p:cNvSpPr txBox="1"/>
          <p:nvPr/>
        </p:nvSpPr>
        <p:spPr>
          <a:xfrm>
            <a:off x="10020300" y="254000"/>
            <a:ext cx="1246824" cy="13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FB981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Model Comparison</a:t>
            </a:r>
          </a:p>
        </p:txBody>
      </p:sp>
      <p:sp>
        <p:nvSpPr>
          <p:cNvPr id="245" name="08"/>
          <p:cNvSpPr txBox="1"/>
          <p:nvPr/>
        </p:nvSpPr>
        <p:spPr>
          <a:xfrm>
            <a:off x="11382375" y="215900"/>
            <a:ext cx="261939" cy="2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08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image-11-1.png" descr="image-11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8" name="image-11-1.png" descr="image-11-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image-11-3.png" descr="image-11-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image-11-4.png" descr="image-11-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image-11-5.png" descr="image-11-5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981950" y="2419350"/>
            <a:ext cx="2876550" cy="2876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2" name="image-11-6.png" descr="image-11-6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514475" y="2466975"/>
            <a:ext cx="323850" cy="333375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image-11-6.png" descr="image-11-6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514475" y="3067050"/>
            <a:ext cx="323850" cy="333375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image-11-6.png" descr="image-11-6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514475" y="3667125"/>
            <a:ext cx="323850" cy="333375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Key Takeaways"/>
          <p:cNvSpPr txBox="1"/>
          <p:nvPr/>
        </p:nvSpPr>
        <p:spPr>
          <a:xfrm>
            <a:off x="1524000" y="1230312"/>
            <a:ext cx="7543800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4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Key Takeaways</a:t>
            </a:r>
          </a:p>
        </p:txBody>
      </p:sp>
      <p:pic>
        <p:nvPicPr>
          <p:cNvPr id="256" name="image-11-9.png" descr="image-11-9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609725" y="2524125"/>
            <a:ext cx="133350" cy="219075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Hypothesis supported: Fake vs real news use different language patterns/word choices"/>
          <p:cNvSpPr txBox="1"/>
          <p:nvPr/>
        </p:nvSpPr>
        <p:spPr>
          <a:xfrm>
            <a:off x="1981200" y="2362200"/>
            <a:ext cx="621549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700">
                <a:latin typeface="Verdana"/>
                <a:ea typeface="Verdana"/>
                <a:cs typeface="Verdana"/>
                <a:sym typeface="Verdana"/>
              </a:defRPr>
            </a:pPr>
            <a:r>
              <a:t>Hypothesis supported:</a:t>
            </a:r>
            <a:r>
              <a:rPr b="0"/>
              <a:t> Fake vs real news use different language patterns/word choices</a:t>
            </a:r>
          </a:p>
        </p:txBody>
      </p:sp>
      <p:pic>
        <p:nvPicPr>
          <p:cNvPr id="258" name="image-11-10.png" descr="image-11-10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609725" y="3124200"/>
            <a:ext cx="133350" cy="219075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Key learning: Simple models are highly effective for text tasks."/>
          <p:cNvSpPr txBox="1"/>
          <p:nvPr/>
        </p:nvSpPr>
        <p:spPr>
          <a:xfrm>
            <a:off x="1981199" y="3028950"/>
            <a:ext cx="621549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700">
                <a:latin typeface="Verdana"/>
                <a:ea typeface="Verdana"/>
                <a:cs typeface="Verdana"/>
                <a:sym typeface="Verdana"/>
              </a:defRPr>
            </a:pPr>
            <a:r>
              <a:t>Key learning:</a:t>
            </a:r>
            <a:r>
              <a:rPr b="0"/>
              <a:t> Simple models are highly effective for text tasks.</a:t>
            </a:r>
          </a:p>
        </p:txBody>
      </p:sp>
      <p:pic>
        <p:nvPicPr>
          <p:cNvPr id="260" name="image-11-11.png" descr="image-11-11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600200" y="3724275"/>
            <a:ext cx="152400" cy="219075"/>
          </a:xfrm>
          <a:prstGeom prst="rect">
            <a:avLst/>
          </a:prstGeom>
          <a:ln w="12700">
            <a:miter lim="400000"/>
          </a:ln>
        </p:spPr>
      </p:pic>
      <p:sp>
        <p:nvSpPr>
          <p:cNvPr id="261" name="Challenge: Selecting the optimal preprocessing for diverse model architectures."/>
          <p:cNvSpPr txBox="1"/>
          <p:nvPr/>
        </p:nvSpPr>
        <p:spPr>
          <a:xfrm>
            <a:off x="1981200" y="3562350"/>
            <a:ext cx="621549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700">
                <a:latin typeface="Verdana"/>
                <a:ea typeface="Verdana"/>
                <a:cs typeface="Verdana"/>
                <a:sym typeface="Verdana"/>
              </a:defRPr>
            </a:pPr>
            <a:r>
              <a:t>Challenge:</a:t>
            </a:r>
            <a:r>
              <a:rPr b="0"/>
              <a:t> Selecting the optimal preprocessing for diverse model architectures.</a:t>
            </a:r>
          </a:p>
        </p:txBody>
      </p:sp>
      <p:sp>
        <p:nvSpPr>
          <p:cNvPr id="262" name="Thank You!"/>
          <p:cNvSpPr txBox="1"/>
          <p:nvPr/>
        </p:nvSpPr>
        <p:spPr>
          <a:xfrm>
            <a:off x="1524000" y="4672012"/>
            <a:ext cx="6858000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39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Thank You!</a:t>
            </a:r>
          </a:p>
        </p:txBody>
      </p:sp>
      <p:sp>
        <p:nvSpPr>
          <p:cNvPr id="263" name="Group 2 - Rima, Domien, Dimi"/>
          <p:cNvSpPr txBox="1"/>
          <p:nvPr/>
        </p:nvSpPr>
        <p:spPr>
          <a:xfrm>
            <a:off x="1524000" y="5392737"/>
            <a:ext cx="75438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Group 2 - Rima, Domien, Dimi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4472C4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